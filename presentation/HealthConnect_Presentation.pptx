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 panose="020B0604020202020204"/>
              </a:rPr>
              <a:t>Findings by severity</a:t>
            </a:r>
            <a:endParaRPr sz="1800" b="0" i="0" u="none" strike="noStrike">
              <a:solidFill>
                <a:srgbClr val="00000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Findings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AB30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5A30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  <c:pt idx="4">
                  <c:v>Info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10</c:v>
                </c:pt>
                <c:pt idx="2">
                  <c:v>12</c:v>
                </c:pt>
                <c:pt idx="3">
                  <c:v>4</c:v>
                </c:pt>
                <c:pt idx="4">
                  <c:v>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c20c0bd7-b448-4782-9e46-38d7f16b143c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 datasets, 273,602 rows. Five tables named in the brief were not supplied.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rows deleted; issues flagged and handled.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Holm correction across 11 tests, alpha 0.05.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monthly points per series; the plain mean wins the back-test.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86384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Healthcare Predictive Analytics &amp; Population Health Intelligence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1FAE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HealthConnect Rwanda · Data Science track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Emmanuella Esi Arhin · AnalystLab Africa Experience Lab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766E"/>
          </a:solidFill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data supports fewer questions than the brief asks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AnalystLab Africa · Week 6 · Data Science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1920240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18872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76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273,602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85166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rows across 27 CSV files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14600" y="1097280"/>
            <a:ext cx="1920240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06040" y="118872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9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2606040" y="185166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tables not supplied (admissions, labs, prescriptions, referrals, facility master)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0" y="1097280"/>
            <a:ext cx="1920240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63440" y="118872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9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8.3%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185166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of bills, diagnoses and payments link to an appointment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629400" y="1097280"/>
            <a:ext cx="2057400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1188720"/>
            <a:ext cx="18745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770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1,756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1851660"/>
            <a:ext cx="18745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feedback records usable for facility comparisons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2834640"/>
            <a:ext cx="822960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Admission, length of stay, labs, prescriptions and referrals: proxy or not computable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Only 12 months of data: no seasonality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Distributions look simulated (uniform ages, no age or sex gradients)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766E"/>
          </a:solidFill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quality: 6 critical and 10 high-severity findings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AnalystLab Africa · Week 6 · Data Science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005840"/>
          <a:ext cx="39319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Facility, department and doctor on an appointment agree in only ~5% of rows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55,000 bills, diagnoses and payments point to non-existent appointments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Billing status labels contradict payments; 30% of ratings contradict comments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Children recorded with adult heights, weights, marriages and degrees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All 2,000 beds are "Available"; 874 appointments are future-dated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766E"/>
          </a:solidFill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Patients: evenly spread, 75% chronic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AnalystLab Africa · Week 6 · Data Science</a:t>
            </a:r>
            <a:endParaRPr lang="en-US" sz="900" dirty="0"/>
          </a:p>
        </p:txBody>
      </p:sp>
      <p:pic>
        <p:nvPicPr>
          <p:cNvPr id="5" name="Image 0" descr="Patient profile of 20,000 registered patien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005" y="914400"/>
            <a:ext cx="5120150" cy="3749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0" y="1097280"/>
            <a:ext cx="310896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20,000 registered; 4,443 (22%) seen in the extract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Mean age 45, 49.5% female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75% chronic, flat across age, sex, province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1,005 children recorded with hypertension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Every patient has an insurance plan: no uninsured group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766E"/>
          </a:solidFill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Operations: load differs, rosters do not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AnalystLab Africa · Week 6 · Data Science</a:t>
            </a:r>
            <a:endParaRPr lang="en-US" sz="900" dirty="0"/>
          </a:p>
        </p:txBody>
      </p:sp>
      <p:pic>
        <p:nvPicPr>
          <p:cNvPr id="5" name="Image 0" descr="Operational workload: doctors, facilities and departmen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907" y="868680"/>
            <a:ext cx="5367786" cy="3840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760720" y="1097280"/>
            <a:ext cx="301752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Doctors: 5-28 appointments (mean 14.3)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Facilities: 217-278 appointments; gap only marginal (p=0.052)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Load per clinical staff differs ~32% across facilities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Rosters: 57-60 clinical staff everywhere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Bed occupancy not computable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766E"/>
          </a:solidFill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Finance: 0.92bn RWF unpaid and half of claims pending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AnalystLab Africa · Week 6 · Data Science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18872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9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0.92bn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01368"/>
            <a:ext cx="2468880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RWF outstanding (9.9% of billings)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51760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37560" y="118872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770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50%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1801368"/>
            <a:ext cx="2468880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21,028 claims pending (2.44bn RWF)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651760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18872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76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~90%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1801368"/>
            <a:ext cx="2468880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of the bill paid, whatever the status label says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743200"/>
            <a:ext cx="822960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Status (Paid / Partially Paid / Pending) does not match payments: test 9, p = 0.64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Pending claims are spread evenly across RSSB, MMI, Private and Radiant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Management revenue summary (1.13bn) does not reconcile with billing (9.31bn)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Summary swings 67M-146M a month independent of volume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766E"/>
          </a:solidFill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Satisfaction: 40% rate 1-2, with no site or driver to blame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AnalystLab Africa · Week 6 · Data Science</a:t>
            </a:r>
            <a:endParaRPr lang="en-US" sz="900" dirty="0"/>
          </a:p>
        </p:txBody>
      </p:sp>
      <p:pic>
        <p:nvPicPr>
          <p:cNvPr id="5" name="Image 0" descr="Patient satisfac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838" y="868680"/>
            <a:ext cx="5184245" cy="3840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35040" y="1097280"/>
            <a:ext cx="274320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Mean 2.99 across 21,064 ratings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Facilities and departments do not differ (p = 0.80, 0.88)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variable predicts rating (R² ≤ 0)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30% of comments contradict ratings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766E"/>
          </a:solidFill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Eleven hypothesis tests: none survive correction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AnalystLab Africa · Week 6 · Data Science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822960"/>
                <a:gridCol w="914400"/>
                <a:gridCol w="173736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Question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Holm p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Decision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Billing: insurance-backed vs self-pay bills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0.155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1.000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Fail to reject H0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Satisfaction differs across the 20 facilities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0.795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1.000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Fail to reject H0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Admission proxy rate differs between age groups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0.104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0.935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Fail to reject H0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Chronic-condition prevalence differs by age group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0.570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1.000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Fail to reject H0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Chronic-condition prevalence differs by province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0.046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0.502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Fail to reject H0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Payment completeness differs by Billing.Status label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0.643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1.000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Fail to reject H0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Chronic prevalence by province: raw p = 0.046, Holm-adjusted p = 0.50. Uncorrected tests mislead.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766E"/>
          </a:solidFill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Forecasts: flat at the 2026 average, with wide bands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AnalystLab Africa · Week 6 · Data Science</a:t>
            </a:r>
            <a:endParaRPr lang="en-US" sz="900" dirty="0"/>
          </a:p>
        </p:txBody>
      </p:sp>
      <p:pic>
        <p:nvPicPr>
          <p:cNvPr id="6" name="Image 0" descr="12-month forecasts: patient volume and revenue (Tasks 1 and 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488" y="868680"/>
            <a:ext cx="5480383" cy="3840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126480" y="1097280"/>
            <a:ext cx="265176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series has a significant trend (p 0.37-0.79)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2027 appointments in extract: ~417 a month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Management revenue swings too widely to forecast (CV 27%)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Department overload ranking is a watch-list, not evidence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766E"/>
          </a:solidFill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Predictive models: nothing beats the baseline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AnalystLab Africa · Week 6 · Data Science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188720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9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0.505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5166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Admission-proxy AUC (0.50 = chance)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51760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37560" y="1188720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9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R² ≈ 0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185166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Satisfaction regression, 1,756 appointments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651760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188720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770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0.516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185166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Chronic-risk screen AUC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834640"/>
            <a:ext cx="822960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Admissions table: target is a proxy (Emergency + Severe diagnosis)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Patient-grouped cross-validation; bootstrap CIs include 0.50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Permutation importances are all within noise of zero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Conclusion: do not deploy any of these models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766E"/>
          </a:solidFill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Segmentation: useful for planning, not natural clusters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AnalystLab Africa · Week 6 · Data Science</a:t>
            </a:r>
            <a:endParaRPr lang="en-US" sz="900" dirty="0"/>
          </a:p>
        </p:txBody>
      </p:sp>
      <p:pic>
        <p:nvPicPr>
          <p:cNvPr id="5" name="Image 0" descr="Patient segmentation (K-Means) and PC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04683"/>
            <a:ext cx="5852160" cy="196847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0" y="1097280"/>
            <a:ext cx="256032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Patients: repeat visitors (~510), emergency-only, routine insured, self-pay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Facilities: busier (9) vs quieter (11), stable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Departments: no better than random; not used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PCA needs 6 of 7 components for 80% of variance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766E"/>
          </a:solidFill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Recommendations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AnalystLab Africa · Week 6 · Data Science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577840"/>
                <a:gridCol w="100584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Area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Action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Confidence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Data pipeline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Enforce appointment keys; add admissions, lab, prescription, referral, facility tables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High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Revenue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Rebuild payment status from payments; collections list; 30-day claim target; reconcile finance summary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High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Satisfaction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Network-wide patient-journey review; link surveys to appointments; structured reason codes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Medium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High-risk patients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Audit chronic coding; universal outreach to 5,028 flagged patients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Medium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Staffing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Balance doctor panels; pilot moving 2-3 staff to highest-load sites; re-measure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Low-Medium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Expansion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No capex on this evidence; re-forecast with 24+ months of data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Medium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766E"/>
          </a:solidFill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Limitations and next steps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AnalystLab Africa · Week 6 · Data Science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Results are provisional: the data look simulated and 91.7% of transactions are orphaned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Next 30 days: repair keys, obtain missing tables, fix payment status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Next quarter: rebuild admission, LOS and risk models on real outcomes; re-forecast with 24+ months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Before deployment: fairness checks by sex, age band and province; human oversight; privacy and governance review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5260</Words>
  <Application>WPS Presentation</Application>
  <PresentationFormat>On-screen Show (16:9)</PresentationFormat>
  <Paragraphs>246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Arial</vt:lpstr>
      <vt:lpstr>Arial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HealthConnect Rwanda - Predictive Analytics</dc:title>
  <dc:creator>Emmanuella Esi Arhin</dc:creator>
  <dc:subject>PptxGenJS Presentation</dc:subject>
  <cp:lastModifiedBy>Emmanuella Arhin</cp:lastModifiedBy>
  <cp:revision>2</cp:revision>
  <dcterms:created xsi:type="dcterms:W3CDTF">2026-10-25T00:10:00Z</dcterms:created>
  <dcterms:modified xsi:type="dcterms:W3CDTF">2026-10-25T01:36:59Z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AB130EF368E94CD2922D130CC50AD44F_12</vt:lpwstr>
  </property>
  <property fmtid="{D5CDD505-2E9C-101B-9397-08002B2CF9AE}" pid="3" name="KSOProductBuildVer">
    <vt:lpwstr>1033-12.1.0.29162</vt:lpwstr>
  </property>
</Properties>
</file>